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097280" cy="5486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 of Indian Equity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Categories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Return, Risk and Risk-Adjusted Performance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[Names]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68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Course: [College Name, Course]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mutual fund pools money from many investors and invests it in a portfolio of stocks, bonds, or other securities, managed by a professional fund manager. Indian equity mutual funds are grouped into categories — Large Cap, Mid Cap, Small Cap, Multi Cap, Flexi Cap — based on the size of companies they invest in.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categories carry different levels of return potential and risk. Comparing them on a common, objective basis — return, risk, and risk-adjusted performance — helps an investor understand which category (and which specific fund) suits their goals, rather than relying on past returns alone.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343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return alone can be misleading — a fund with a higher return may have taken disproportionately more risk to get there. Risk-adjusted measures like the Sharpe Ratio reveal whether that extra risk was actually rewarded.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different categories of Indian equity mutual funds compare in terms of return, risk, and risk-adjusted performance over a selected historical period?”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clean historical NAV data for equity funds across 5 categories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return (CAGR) and risk (volatility, maximum drawdown) for each fund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risk-adjusted performance (Sharpe Ratio) using a suitable risk-free rate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 to identify which offers the best return relative to risk taken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Categories and Research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88336" y="1371600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88336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28032" y="1371600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28032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67728" y="1371600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67728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Cap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07424" y="1371600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07424" y="1371600"/>
            <a:ext cx="2048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 Cap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51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651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funds per category × 5 categories = 25 mutual funds (planned)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3375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01-Jan-2022 to 31-Dec-2025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Option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0233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 — Growth Option (all funds)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709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from official mutual-fund / AMFI sources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Large Cap is currently the only category with completed data collection, cleaning and initial calculations.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Cap Funds Selected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114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E7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4114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108960"/>
        </p:xfrm>
        <a:graphic>
          <a:graphicData uri="http://schemas.openxmlformats.org/drawingml/2006/table">
            <a:tbl>
              <a:tblPr/>
              <a:tblGrid>
                <a:gridCol w="731520"/>
                <a:gridCol w="6675120"/>
                <a:gridCol w="1828800"/>
                <a:gridCol w="1828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Large Cap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 Large Cap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Large Cap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Large Cap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Large Cap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category completed so far — data collection, cleaning and initial return/risk calculations are done; Sharpe Ratio is pending.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daily NAV was collected from official mutual fund / AMFI sources for each fund's Direct Plan — Growth Option, covering the full study period.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source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Asset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7432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774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7432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062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7432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7432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27432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27432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used for analysis: Date, Net Asset Value, Plan, Option (highlighted). Repurchase Price and Sale Price were not required for this study.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4805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(Net Asset Value) is the primary raw variable used for the entire analysis — every return and risk measure is derived from the daily NAV series.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selected the correct header row (raw files had descriptive rows before the actual NAV table)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relevant columns: Date, NAV, Plan, Option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to Direct Plan and Growth Option only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records to the study period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to proper datetime format and NAV to numeric values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observations with missing Date or NAV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records chronologically and reset row indices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and removed duplicate dates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date ranges and observation counts for consistency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Fix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01000" y="19659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HDFC Large Cap dataset initially ended on 19-Dec-2025. The missing December 2025 observations were subsequently collected, and the dataset was updated to cover the full study period.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719072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65376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65376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82112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352544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8848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15584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15584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49056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49056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619488" y="2377440"/>
            <a:ext cx="146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65792" y="2377440"/>
            <a:ext cx="1170432" cy="1005840"/>
          </a:xfrm>
          <a:prstGeom prst="roundRect">
            <a:avLst>
              <a:gd name="adj" fmla="val 5455"/>
            </a:avLst>
          </a:prstGeom>
          <a:solidFill>
            <a:srgbClr val="FBEFDD"/>
          </a:solidFill>
          <a:ln w="12700">
            <a:solidFill>
              <a:srgbClr val="B5730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65792" y="23774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5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[Pending]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fund's NAV series flows through this pipeline independently — metrics are calculated per fund, not on a merged/pooled series.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The five funds in a category are never merged into one NAV series. Metrics are computed separately for each fund, producing a fund-level results table; these are later summarized to obtain the category-level result.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Definitions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2646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37160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716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 Rate — the annualized return over the study period.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CAGR = (Ending NAV / Starting NAV)^(1/Years) − 1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28016" cy="12801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Volatility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060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daily returns fluctuate, scaled to a yearly figure — a measure of risk.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6060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Volatility = Std. Dev. of Daily Returns × √252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128016" cy="128016"/>
          </a:xfrm>
          <a:prstGeom prst="ellipse">
            <a:avLst/>
          </a:prstGeom>
          <a:solidFill>
            <a:srgbClr val="B573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8404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5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8404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fall from a previous peak NAV — the worst-case loss an investor would have experienced.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840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Drawdown = (NAV − Running Max NAV) / Running Max NAV; Max Drawdown = minimum of this series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128016" cy="12801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5074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0749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earned per unit of risk taken, above a risk-free rate — the risk-adjusted performance measure.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0749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 = (Fund Return − Risk-Free Rate) / Volatility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Large Cap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92608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2103120"/>
                <a:gridCol w="192024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India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B5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Prudential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B5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-16.36%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B5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-18.78%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B5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Bandhan Large Cap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B57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[Pending]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Volatility and Maximum Drawdown figures shown are computed from actual daily NAV data over the analysis period used (01-Jan-2021 to 31-Dec-2025). Sharpe Ratio is marked [Pending] as the risk-free-rate methodology is still being finalized — no value has been invented or assumed.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5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project's stated study period is 01-Jan-2022 to 31-Dec-2025 — these figures will be recomputed for that exact window before final submission.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 /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822960" cy="4114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and objectives finalized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mutual-fund categories and five Large Cap funds selected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 collection, cleaning and validation (Large Cap)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return, running maximum and drawdown calculation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CAGR, volatility and maximum drawdown methodology and results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7830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Risk-free-rate finalization and Sharpe Ratio calculation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category-level summary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Cap, Small Cap, Multi Cap, Flexi Cap analysis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across all five categories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charts and conclusions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Since only the Large Cap category is currently analyzed — and its Sharpe Ratio is still pending — no conclusion is drawn yet about which category performs better. The full category-level comparison will be carried out only after all five categories are analyzed.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813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risk-free rate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4813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Sharpe Ratio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14813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Large Cap category summary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0815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93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Mid Cap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97680" y="28803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30815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593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Small Cap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28803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5320" y="30815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3081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5935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Multi Cap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46817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681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1937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Flexi Cap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97680" y="44805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46817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26280" y="4681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51937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five categories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46720" y="44805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263773"/>
          </a:solidFill>
          <a:ln/>
        </p:spPr>
      </p:sp>
      <p:sp>
        <p:nvSpPr>
          <p:cNvPr id="37" name="Shape 35"/>
          <p:cNvSpPr/>
          <p:nvPr/>
        </p:nvSpPr>
        <p:spPr>
          <a:xfrm>
            <a:off x="8275320" y="4681728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75320" y="4681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51937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charts and conclusion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2026-09-25T11:56:03Z</dcterms:created>
  <dcterms:modified xsi:type="dcterms:W3CDTF">2026-09-25T11:56:03Z</dcterms:modified>
</cp:coreProperties>
</file>